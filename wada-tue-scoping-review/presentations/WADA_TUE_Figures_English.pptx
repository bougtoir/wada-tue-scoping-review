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1. PRISMA-ScR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64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" y="1980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" y="316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ELIGIBILITY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" y="4320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60000" y="648000"/>
            <a:ext cx="2520000" cy="900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Records identified through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database searching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847)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648000"/>
            <a:ext cx="2520000" cy="900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Additional records from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grey literature &amp; guidelines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156)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40000" y="1584000"/>
            <a:ext cx="180000" cy="288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760000" y="1584000"/>
            <a:ext cx="180000" cy="288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80000" y="1980000"/>
            <a:ext cx="4500000" cy="540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Records after duplicates removed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724)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40000" y="2556000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0000" y="2808000"/>
            <a:ext cx="2880000" cy="648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Records screened by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title/abstract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724)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0" y="2808000"/>
            <a:ext cx="1980000" cy="648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Records excluded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518)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311999" y="3491999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0000" y="3780000"/>
            <a:ext cx="2880000" cy="6480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Full-text articles assessed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for eligibility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206)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0000" y="3671999"/>
            <a:ext cx="2520000" cy="1260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800" b="0">
                <a:solidFill>
                  <a:srgbClr val="424242"/>
                </a:solidFill>
                <a:latin typeface="Calibri"/>
              </a:defRPr>
            </a:pPr>
            <a:r>
              <a:t>Full-text excluded (n = 138)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Reasons: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Not athlete-specific (n=42)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Outdated guidelines (n=31)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Not TUE-related (n=38)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Duplicate data (n=27)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311999" y="4464000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80000" y="4752000"/>
            <a:ext cx="2880000" cy="540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424242"/>
                </a:solidFill>
                <a:latin typeface="Calibri"/>
              </a:defRPr>
            </a:pPr>
            <a:r>
              <a:t>Sources included in review</a:t>
            </a:r>
          </a:p>
          <a:p>
            <a:pPr algn="ctr">
              <a:defRPr sz="1100" b="1">
                <a:solidFill>
                  <a:srgbClr val="424242"/>
                </a:solidFill>
                <a:latin typeface="Calibri"/>
              </a:defRPr>
            </a:pPr>
            <a:r>
              <a:t>(n = 68)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0000" y="5472000"/>
            <a:ext cx="1980000" cy="648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WADA regulatory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documents (n=18)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0" y="5472000"/>
            <a:ext cx="198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Clinical practice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guidelines (n=22)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0000" y="5472000"/>
            <a:ext cx="1980000" cy="648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Peer-reviewed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articles (n=28)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2. Clinical-Competition Gap Risk Matrix</a:t>
            </a:r>
          </a:p>
        </p:txBody>
      </p:sp>
      <p:pic>
        <p:nvPicPr>
          <p:cNvPr id="3" name="Picture 2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8000"/>
            <a:ext cx="792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Figure 3. Timeline: Clinical Guidelines vs WADA Regulatory Changes (2018–2026)</a:t>
            </a:r>
          </a:p>
        </p:txBody>
      </p:sp>
      <p:pic>
        <p:nvPicPr>
          <p:cNvPr id="3" name="Picture 2" descr="fig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828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4. Conceptual Framework: The Clinical-Competition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720000"/>
            <a:ext cx="2880000" cy="9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B5E20"/>
                </a:solidFill>
                <a:latin typeface="Calibri"/>
              </a:defRPr>
            </a:pPr>
            <a:r>
              <a:t>CLINICAL PRACTICE</a:t>
            </a:r>
          </a:p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655999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GINA (Asthma)</a:t>
            </a:r>
            <a:br/>
            <a:r>
              <a:t>ADA (Diabetes)</a:t>
            </a:r>
            <a:br/>
            <a:r>
              <a:t>Endocrine Society (Testosterone)</a:t>
            </a:r>
            <a:br/>
            <a:r>
              <a:t>ESC/ESH (Cardiology)</a:t>
            </a:r>
            <a:br/>
            <a:r>
              <a:t>NICE (ADHD)</a:t>
            </a:r>
            <a:br/>
            <a:r>
              <a:t>PCOS Intl. Guideline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2000" y="720000"/>
            <a:ext cx="2880000" cy="900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D47A1"/>
                </a:solidFill>
                <a:latin typeface="Calibri"/>
              </a:defRPr>
            </a:pPr>
            <a:r>
              <a:t>WADA ANTI-DOPING</a:t>
            </a:r>
          </a:p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REGULATIONS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000" y="1655999"/>
            <a:ext cx="27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3A5C"/>
                </a:solidFill>
                <a:latin typeface="Calibri"/>
              </a:defRPr>
            </a:pPr>
            <a:r>
              <a:t>Prohibited List (annual)</a:t>
            </a:r>
            <a:br/>
            <a:r>
              <a:t>ISTUE Standards</a:t>
            </a:r>
            <a:br/>
            <a:r>
              <a:t>TUE Physician Guidelines</a:t>
            </a:r>
            <a:br/>
            <a:r>
              <a:t>Monitoring Program</a:t>
            </a:r>
            <a:br/>
            <a:r>
              <a:t>ADAMS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16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6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0" y="1260000"/>
            <a:ext cx="2880000" cy="9000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B71C1C"/>
                </a:solidFill>
                <a:latin typeface="Calibri"/>
              </a:defRPr>
            </a:pPr>
            <a:r>
              <a:t>CLINICAL-COMPETITION</a:t>
            </a:r>
          </a:p>
          <a:p>
            <a:pPr algn="ctr">
              <a:defRPr sz="1600" b="1">
                <a:solidFill>
                  <a:srgbClr val="B71C1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232000"/>
            <a:ext cx="25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• Update timing lag</a:t>
            </a:r>
            <a:br/>
            <a:r>
              <a:t>• Divergent diagnostic criteria</a:t>
            </a:r>
            <a:br/>
            <a:r>
              <a:t>• Prohibited first-line therapies</a:t>
            </a:r>
            <a:br/>
            <a:r>
              <a:t>• TUE process barriers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12000" y="3240000"/>
            <a:ext cx="216000" cy="43200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0000" y="3780000"/>
            <a:ext cx="6480000" cy="720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BF360C"/>
                </a:solidFill>
                <a:latin typeface="Calibri"/>
              </a:defRPr>
            </a:pPr>
            <a:r>
              <a:t>IMPACT ON ATHLETES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4536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360C"/>
                </a:solidFill>
                <a:latin typeface="Calibri"/>
              </a:defRPr>
            </a:pPr>
            <a:r>
              <a:t>Suboptimal treatment  |  Delayed care access  |  ADRV risk  |  Privacy concerns  |  Geographic disparities  |  Career impact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12000" y="4968000"/>
            <a:ext cx="216000" cy="288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0000" y="5328000"/>
            <a:ext cx="6480000" cy="540000"/>
          </a:xfrm>
          <a:prstGeom prst="roundRect">
            <a:avLst/>
          </a:prstGeom>
          <a:solidFill>
            <a:srgbClr val="E0E0E0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424242"/>
                </a:solidFill>
                <a:latin typeface="Calibri"/>
              </a:defRPr>
            </a:pPr>
            <a:r>
              <a:t>RECOMMENDATIONS: Harmonize updates | Streamline TUE | Educate clinicians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5. Clinical-Competition Gap Severity by Disease Area</a:t>
            </a:r>
          </a:p>
        </p:txBody>
      </p:sp>
      <p:pic>
        <p:nvPicPr>
          <p:cNvPr id="3" name="Picture 2" descr="fig5_sever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8000"/>
            <a:ext cx="7920000" cy="52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