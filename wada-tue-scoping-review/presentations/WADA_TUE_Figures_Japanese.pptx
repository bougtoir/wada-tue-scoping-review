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Figure 1. PRISMA-ScR フロー図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000" y="64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同定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000" y="1980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スクリーニング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" y="3168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適格性評価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" y="4320000"/>
            <a:ext cx="12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B3A5C"/>
                </a:solidFill>
                <a:latin typeface="Calibri"/>
              </a:defRPr>
            </a:pPr>
            <a:r>
              <a:t>採択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60000" y="648000"/>
            <a:ext cx="2520000" cy="90000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0">
                <a:solidFill>
                  <a:srgbClr val="424242"/>
                </a:solidFill>
                <a:latin typeface="Calibri"/>
              </a:defRPr>
            </a:pPr>
            <a:r>
              <a:t>データベース検索による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同定記録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(n = 847)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80000" y="648000"/>
            <a:ext cx="2520000" cy="900000"/>
          </a:xfrm>
          <a:prstGeom prst="roundRect">
            <a:avLst/>
          </a:prstGeom>
          <a:solidFill>
            <a:srgbClr val="BBDEFB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0">
                <a:solidFill>
                  <a:srgbClr val="424242"/>
                </a:solidFill>
                <a:latin typeface="Calibri"/>
              </a:defRPr>
            </a:pPr>
            <a:r>
              <a:t>灰色文献・ガイドライン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リポジトリからの追加記録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(n = 156)</a:t>
            </a:r>
          </a:p>
        </p:txBody>
      </p:sp>
      <p:sp>
        <p:nvSpPr>
          <p:cNvPr id="9" name="Down Arrow 8"/>
          <p:cNvSpPr/>
          <p:nvPr/>
        </p:nvSpPr>
        <p:spPr>
          <a:xfrm>
            <a:off x="2340000" y="1584000"/>
            <a:ext cx="180000" cy="28800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5760000" y="1584000"/>
            <a:ext cx="180000" cy="28800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80000" y="1980000"/>
            <a:ext cx="4500000" cy="540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0">
                <a:solidFill>
                  <a:srgbClr val="424242"/>
                </a:solidFill>
                <a:latin typeface="Calibri"/>
              </a:defRPr>
            </a:pPr>
            <a:r>
              <a:t>重複除去後の記録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(n = 724)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140000" y="2556000"/>
            <a:ext cx="180000" cy="21600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80000" y="2808000"/>
            <a:ext cx="2880000" cy="648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0">
                <a:solidFill>
                  <a:srgbClr val="424242"/>
                </a:solidFill>
                <a:latin typeface="Calibri"/>
              </a:defRPr>
            </a:pPr>
            <a:r>
              <a:t>タイトル・アブストラクト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スクリーニング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(n = 724)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000" y="2808000"/>
            <a:ext cx="1980000" cy="64800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0">
                <a:solidFill>
                  <a:srgbClr val="424242"/>
                </a:solidFill>
                <a:latin typeface="Calibri"/>
              </a:defRPr>
            </a:pPr>
            <a:r>
              <a:t>除外された記録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(n = 518)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311999" y="3491999"/>
            <a:ext cx="180000" cy="21600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80000" y="3780000"/>
            <a:ext cx="2880000" cy="648000"/>
          </a:xfrm>
          <a:prstGeom prst="roundRect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0">
                <a:solidFill>
                  <a:srgbClr val="424242"/>
                </a:solidFill>
                <a:latin typeface="Calibri"/>
              </a:defRPr>
            </a:pPr>
            <a:r>
              <a:t>適格性評価対象の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全文論文</a:t>
            </a:r>
          </a:p>
          <a:p>
            <a:pPr algn="ctr">
              <a:defRPr sz="1000" b="0">
                <a:solidFill>
                  <a:srgbClr val="424242"/>
                </a:solidFill>
                <a:latin typeface="Calibri"/>
              </a:defRPr>
            </a:pPr>
            <a:r>
              <a:t>(n = 206)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80000" y="3671999"/>
            <a:ext cx="2520000" cy="1260000"/>
          </a:xfrm>
          <a:prstGeom prst="roundRect">
            <a:avLst/>
          </a:prstGeom>
          <a:solidFill>
            <a:srgbClr val="FFCDD2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800" b="0">
                <a:solidFill>
                  <a:srgbClr val="424242"/>
                </a:solidFill>
                <a:latin typeface="Calibri"/>
              </a:defRPr>
            </a:pPr>
            <a:r>
              <a:t>全文除外 (n = 138)</a:t>
            </a:r>
          </a:p>
          <a:p>
            <a:pPr algn="ctr">
              <a:defRPr sz="800" b="0">
                <a:solidFill>
                  <a:srgbClr val="424242"/>
                </a:solidFill>
                <a:latin typeface="Calibri"/>
              </a:defRPr>
            </a:pPr>
          </a:p>
          <a:p>
            <a:pPr algn="ctr">
              <a:defRPr sz="800" b="0">
                <a:solidFill>
                  <a:srgbClr val="424242"/>
                </a:solidFill>
                <a:latin typeface="Calibri"/>
              </a:defRPr>
            </a:pPr>
            <a:r>
              <a:t>除外理由:</a:t>
            </a:r>
          </a:p>
          <a:p>
            <a:pPr algn="ctr">
              <a:defRPr sz="800" b="0">
                <a:solidFill>
                  <a:srgbClr val="424242"/>
                </a:solidFill>
                <a:latin typeface="Calibri"/>
              </a:defRPr>
            </a:pPr>
            <a:r>
              <a:t>- アスリート非特異的 (n=42)</a:t>
            </a:r>
          </a:p>
          <a:p>
            <a:pPr algn="ctr">
              <a:defRPr sz="800" b="0">
                <a:solidFill>
                  <a:srgbClr val="424242"/>
                </a:solidFill>
                <a:latin typeface="Calibri"/>
              </a:defRPr>
            </a:pPr>
            <a:r>
              <a:t>- 旧式ガイドライン (n=31)</a:t>
            </a:r>
          </a:p>
          <a:p>
            <a:pPr algn="ctr">
              <a:defRPr sz="800" b="0">
                <a:solidFill>
                  <a:srgbClr val="424242"/>
                </a:solidFill>
                <a:latin typeface="Calibri"/>
              </a:defRPr>
            </a:pPr>
            <a:r>
              <a:t>- TUE非関連 (n=38)</a:t>
            </a:r>
          </a:p>
          <a:p>
            <a:pPr algn="ctr">
              <a:defRPr sz="800" b="0">
                <a:solidFill>
                  <a:srgbClr val="424242"/>
                </a:solidFill>
                <a:latin typeface="Calibri"/>
              </a:defRPr>
            </a:pPr>
            <a:r>
              <a:t>- 重複データ (n=27)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3311999" y="4464000"/>
            <a:ext cx="180000" cy="216000"/>
          </a:xfrm>
          <a:prstGeom prst="downArrow">
            <a:avLst/>
          </a:prstGeom>
          <a:solidFill>
            <a:srgbClr val="4242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980000" y="4752000"/>
            <a:ext cx="2880000" cy="540000"/>
          </a:xfrm>
          <a:prstGeom prst="roundRect">
            <a:avLst/>
          </a:prstGeom>
          <a:solidFill>
            <a:srgbClr val="C8E6C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100" b="1">
                <a:solidFill>
                  <a:srgbClr val="424242"/>
                </a:solidFill>
                <a:latin typeface="Calibri"/>
              </a:defRPr>
            </a:pPr>
            <a:r>
              <a:t>レビューに採択された文献</a:t>
            </a:r>
          </a:p>
          <a:p>
            <a:pPr algn="ctr">
              <a:defRPr sz="1100" b="1">
                <a:solidFill>
                  <a:srgbClr val="424242"/>
                </a:solidFill>
                <a:latin typeface="Calibri"/>
              </a:defRPr>
            </a:pPr>
            <a:r>
              <a:t>(n = 68)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60000" y="5472000"/>
            <a:ext cx="1980000" cy="6480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424242"/>
                </a:solidFill>
                <a:latin typeface="Calibri"/>
              </a:defRPr>
            </a:pPr>
            <a:r>
              <a:t>WADA規制文書</a:t>
            </a:r>
          </a:p>
          <a:p>
            <a:pPr algn="ctr">
              <a:defRPr sz="900" b="1">
                <a:solidFill>
                  <a:srgbClr val="424242"/>
                </a:solidFill>
                <a:latin typeface="Calibri"/>
              </a:defRPr>
            </a:pPr>
            <a:r>
              <a:t>(n=18)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00000" y="5472000"/>
            <a:ext cx="1980000" cy="648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424242"/>
                </a:solidFill>
                <a:latin typeface="Calibri"/>
              </a:defRPr>
            </a:pPr>
            <a:r>
              <a:t>臨床診療</a:t>
            </a:r>
          </a:p>
          <a:p>
            <a:pPr algn="ctr">
              <a:defRPr sz="900" b="1">
                <a:solidFill>
                  <a:srgbClr val="424242"/>
                </a:solidFill>
                <a:latin typeface="Calibri"/>
              </a:defRPr>
            </a:pPr>
            <a:r>
              <a:t>ガイドライン (n=22)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0000" y="5472000"/>
            <a:ext cx="1980000" cy="6480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900" b="1">
                <a:solidFill>
                  <a:srgbClr val="424242"/>
                </a:solidFill>
                <a:latin typeface="Calibri"/>
              </a:defRPr>
            </a:pPr>
            <a:r>
              <a:t>査読付き論文</a:t>
            </a:r>
          </a:p>
          <a:p>
            <a:pPr algn="ctr">
              <a:defRPr sz="900" b="1">
                <a:solidFill>
                  <a:srgbClr val="424242"/>
                </a:solidFill>
                <a:latin typeface="Calibri"/>
              </a:defRPr>
            </a:pPr>
            <a:r>
              <a:t>(n=28)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Figure 2. 臨床─競技ギャップ リスクマトリックス</a:t>
            </a:r>
          </a:p>
        </p:txBody>
      </p:sp>
      <p:pic>
        <p:nvPicPr>
          <p:cNvPr id="3" name="Picture 2" descr="fig2_g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48000"/>
            <a:ext cx="7920000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108000"/>
            <a:ext cx="82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B3A5C"/>
                </a:solidFill>
                <a:latin typeface="Calibri"/>
              </a:defRPr>
            </a:pPr>
            <a:r>
              <a:t>Figure 3. タイムライン：臨床ガイドライン更新 vs WADA規制変更（2018–2026）</a:t>
            </a:r>
          </a:p>
        </p:txBody>
      </p:sp>
      <p:pic>
        <p:nvPicPr>
          <p:cNvPr id="3" name="Picture 2" descr="fig3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0"/>
            <a:ext cx="8280000" cy="522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Figure 4. 概念的枠組み：臨床─競技ギャップモデル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88000" y="720000"/>
            <a:ext cx="2880000" cy="9000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1B5E20"/>
                </a:solidFill>
                <a:latin typeface="Calibri"/>
              </a:defRPr>
            </a:pPr>
            <a:r>
              <a:t>臨床診療</a:t>
            </a:r>
          </a:p>
          <a:p>
            <a:pPr algn="ctr">
              <a:defRPr sz="1400" b="1">
                <a:solidFill>
                  <a:srgbClr val="1B5E20"/>
                </a:solidFill>
                <a:latin typeface="Calibri"/>
              </a:defRPr>
            </a:pPr>
            <a:r>
              <a:t>ガイドライン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655999"/>
            <a:ext cx="27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E7D32"/>
                </a:solidFill>
                <a:latin typeface="Calibri"/>
              </a:defRPr>
            </a:pPr>
            <a:r>
              <a:t>GINA（喘息）</a:t>
            </a:r>
            <a:br/>
            <a:r>
              <a:t>ADA（糖尿病）</a:t>
            </a:r>
            <a:br/>
            <a:r>
              <a:t>内分泌学会（テストステロン）</a:t>
            </a:r>
            <a:br/>
            <a:r>
              <a:t>ESC/ESH（心臓病）</a:t>
            </a:r>
            <a:br/>
            <a:r>
              <a:t>NICE（ADHD）</a:t>
            </a:r>
            <a:br/>
            <a:r>
              <a:t>PCOS国際ガイドライン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72000" y="720000"/>
            <a:ext cx="2880000" cy="9000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0D47A1"/>
                </a:solidFill>
                <a:latin typeface="Calibri"/>
              </a:defRPr>
            </a:pPr>
            <a:r>
              <a:t>WADAアンチ・ドーピング</a:t>
            </a:r>
          </a:p>
          <a:p>
            <a:pPr algn="ctr">
              <a:defRPr sz="1400" b="1">
                <a:solidFill>
                  <a:srgbClr val="0D47A1"/>
                </a:solidFill>
                <a:latin typeface="Calibri"/>
              </a:defRPr>
            </a:pPr>
            <a:r>
              <a:t>規制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80000" y="1655999"/>
            <a:ext cx="27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B3A5C"/>
                </a:solidFill>
                <a:latin typeface="Calibri"/>
              </a:defRPr>
            </a:pPr>
            <a:r>
              <a:t>禁止表（年次更新）</a:t>
            </a:r>
            <a:br/>
            <a:r>
              <a:t>ISTUE基準</a:t>
            </a:r>
            <a:br/>
            <a:r>
              <a:t>TUE医師ガイドライン</a:t>
            </a:r>
            <a:br/>
            <a:r>
              <a:t>モニタリングプログラム</a:t>
            </a:r>
            <a:br/>
            <a:r>
              <a:t>ADAMSシステム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0000" y="16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E7D32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0000" y="16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5C"/>
                </a:solidFill>
                <a:latin typeface="Calibri"/>
              </a:defRPr>
            </a:pPr>
            <a:r>
              <a:t>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000" y="1260000"/>
            <a:ext cx="2880000" cy="9000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600" b="1">
                <a:solidFill>
                  <a:srgbClr val="B71C1C"/>
                </a:solidFill>
                <a:latin typeface="Calibri"/>
              </a:defRPr>
            </a:pPr>
            <a:r>
              <a:t>臨床─競技</a:t>
            </a:r>
          </a:p>
          <a:p>
            <a:pPr algn="ctr">
              <a:defRPr sz="1600" b="1">
                <a:solidFill>
                  <a:srgbClr val="B71C1C"/>
                </a:solidFill>
                <a:latin typeface="Calibri"/>
              </a:defRPr>
            </a:pPr>
            <a:r>
              <a:t>ギャップ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232000"/>
            <a:ext cx="25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62828"/>
                </a:solidFill>
                <a:latin typeface="Calibri"/>
              </a:defRPr>
            </a:pPr>
            <a:r>
              <a:t>• 更新タイミングの遅延</a:t>
            </a:r>
            <a:br/>
            <a:r>
              <a:t>• 診断基準の相違</a:t>
            </a:r>
            <a:br/>
            <a:r>
              <a:t>• 第一選択薬の禁止</a:t>
            </a:r>
            <a:br/>
            <a:r>
              <a:t>• TUEプロセスの障壁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212000" y="3240000"/>
            <a:ext cx="216000" cy="432000"/>
          </a:xfrm>
          <a:prstGeom prst="downArrow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80000" y="3780000"/>
            <a:ext cx="6480000" cy="7200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400" b="1">
                <a:solidFill>
                  <a:srgbClr val="BF360C"/>
                </a:solidFill>
                <a:latin typeface="Calibri"/>
              </a:defRPr>
            </a:pPr>
            <a:r>
              <a:t>アスリートへの影響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0000" y="4536000"/>
            <a:ext cx="61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BF360C"/>
                </a:solidFill>
                <a:latin typeface="Calibri"/>
              </a:defRPr>
            </a:pPr>
            <a:r>
              <a:t>次善の治療  |  ケアアクセスの遅延  |  ADRV リスク  |  プライバシー懸念  |  地理的格差  |  キャリアへの影響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212000" y="4968000"/>
            <a:ext cx="216000" cy="288000"/>
          </a:xfrm>
          <a:prstGeom prst="downArrow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80000" y="5328000"/>
            <a:ext cx="6480000" cy="540000"/>
          </a:xfrm>
          <a:prstGeom prst="roundRect">
            <a:avLst/>
          </a:prstGeom>
          <a:solidFill>
            <a:srgbClr val="E0E0E0"/>
          </a:solidFill>
          <a:ln w="19050">
            <a:solidFill>
              <a:srgbClr val="7575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defRPr sz="1000" b="1">
                <a:solidFill>
                  <a:srgbClr val="424242"/>
                </a:solidFill>
                <a:latin typeface="Calibri"/>
              </a:defRPr>
            </a:pPr>
            <a:r>
              <a:t>提言：更新の調和 | TUEの簡素化 | 臨床医への教育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79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Figure 5. 疾患領域別 臨床─競技ギャップ重症度</a:t>
            </a:r>
          </a:p>
        </p:txBody>
      </p:sp>
      <p:pic>
        <p:nvPicPr>
          <p:cNvPr id="3" name="Picture 2" descr="fig5_severity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648000"/>
            <a:ext cx="7920000" cy="52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