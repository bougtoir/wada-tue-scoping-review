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1B3A5C"/>
                </a:solidFill>
              </a:rPr>
              <a:t>Figure 3. Clinical-Competition Gap Risk Matrix
by Disease Area and Assessment Dimension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109728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24242"/>
                </a:solidFill>
              </a:rPr>
              <a:t>First-line Rx
Prohibited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09728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24242"/>
                </a:solidFill>
              </a:rPr>
              <a:t>TUE Process
Complexity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109728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24242"/>
                </a:solidFill>
              </a:rPr>
              <a:t>Guideline
Update Lag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109728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24242"/>
                </a:solidFill>
              </a:rPr>
              <a:t>Athlete
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1097280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424242"/>
                </a:solidFill>
              </a:rPr>
              <a:t>Alternative Rx
Availability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16916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24242"/>
                </a:solidFill>
              </a:rPr>
              <a:t>Asthma
(Beta-2 agonists)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691640"/>
            <a:ext cx="1508760" cy="594360"/>
          </a:xfrm>
          <a:prstGeom prst="rect">
            <a:avLst/>
          </a:prstGeom>
          <a:solidFill>
            <a:srgbClr val="FFF9C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424242"/>
                </a:solidFill>
              </a:rPr>
              <a:t>Med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691640"/>
            <a:ext cx="1508760" cy="594360"/>
          </a:xfrm>
          <a:prstGeom prst="rect">
            <a:avLst/>
          </a:prstGeom>
          <a:solidFill>
            <a:srgbClr val="FFF9C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424242"/>
                </a:solidFill>
              </a:rPr>
              <a:t>Med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1508760" cy="594360"/>
          </a:xfrm>
          <a:prstGeom prst="rect">
            <a:avLst/>
          </a:prstGeom>
          <a:solidFill>
            <a:srgbClr val="FFF9C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424242"/>
                </a:solidFill>
              </a:rPr>
              <a:t>Med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691640"/>
            <a:ext cx="1508760" cy="594360"/>
          </a:xfrm>
          <a:prstGeom prst="rect">
            <a:avLst/>
          </a:prstGeom>
          <a:solidFill>
            <a:srgbClr val="FFE0B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1691640"/>
            <a:ext cx="1508760" cy="594360"/>
          </a:xfrm>
          <a:prstGeom prst="rect">
            <a:avLst/>
          </a:prstGeom>
          <a:solidFill>
            <a:srgbClr val="EF53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V.High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" y="23317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24242"/>
                </a:solidFill>
              </a:rPr>
              <a:t>ADHD
(Stimulants)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2331720"/>
            <a:ext cx="1508760" cy="594360"/>
          </a:xfrm>
          <a:prstGeom prst="rect">
            <a:avLst/>
          </a:prstGeom>
          <a:solidFill>
            <a:srgbClr val="EF53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V.High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2331720"/>
            <a:ext cx="1508760" cy="594360"/>
          </a:xfrm>
          <a:prstGeom prst="rect">
            <a:avLst/>
          </a:prstGeom>
          <a:solidFill>
            <a:srgbClr val="EF53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V.High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2331720"/>
            <a:ext cx="1508760" cy="594360"/>
          </a:xfrm>
          <a:prstGeom prst="rect">
            <a:avLst/>
          </a:prstGeom>
          <a:solidFill>
            <a:srgbClr val="FFF9C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424242"/>
                </a:solidFill>
              </a:rPr>
              <a:t>Med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2331720"/>
            <a:ext cx="1508760" cy="594360"/>
          </a:xfrm>
          <a:prstGeom prst="rect">
            <a:avLst/>
          </a:prstGeom>
          <a:solidFill>
            <a:srgbClr val="EF53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V.High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2331720"/>
            <a:ext cx="1508760" cy="594360"/>
          </a:xfrm>
          <a:prstGeom prst="rect">
            <a:avLst/>
          </a:prstGeom>
          <a:solidFill>
            <a:srgbClr val="FFF9C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424242"/>
                </a:solidFill>
              </a:rPr>
              <a:t>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" y="29718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24242"/>
                </a:solidFill>
              </a:rPr>
              <a:t>Type 2 Diabetes
(GLP-1 RAs)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2971800"/>
            <a:ext cx="1508760" cy="594360"/>
          </a:xfrm>
          <a:prstGeom prst="rect">
            <a:avLst/>
          </a:prstGeom>
          <a:solidFill>
            <a:srgbClr val="C8E6C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424242"/>
                </a:solidFill>
              </a:rPr>
              <a:t>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2971800"/>
            <a:ext cx="1508760" cy="594360"/>
          </a:xfrm>
          <a:prstGeom prst="rect">
            <a:avLst/>
          </a:prstGeom>
          <a:solidFill>
            <a:srgbClr val="FFF9C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424242"/>
                </a:solidFill>
              </a:rPr>
              <a:t>Med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0" y="2971800"/>
            <a:ext cx="1508760" cy="594360"/>
          </a:xfrm>
          <a:prstGeom prst="rect">
            <a:avLst/>
          </a:prstGeom>
          <a:solidFill>
            <a:srgbClr val="FFE0B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2971800"/>
            <a:ext cx="1508760" cy="594360"/>
          </a:xfrm>
          <a:prstGeom prst="rect">
            <a:avLst/>
          </a:prstGeom>
          <a:solidFill>
            <a:srgbClr val="FFE0B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0" y="2971800"/>
            <a:ext cx="1508760" cy="594360"/>
          </a:xfrm>
          <a:prstGeom prst="rect">
            <a:avLst/>
          </a:prstGeom>
          <a:solidFill>
            <a:srgbClr val="FFE0B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" y="3611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24242"/>
                </a:solidFill>
              </a:rPr>
              <a:t>Male Hypogonadism
(Testosterone)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3611880"/>
            <a:ext cx="1508760" cy="594360"/>
          </a:xfrm>
          <a:prstGeom prst="rect">
            <a:avLst/>
          </a:prstGeom>
          <a:solidFill>
            <a:srgbClr val="EF53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V.High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3611880"/>
            <a:ext cx="1508760" cy="594360"/>
          </a:xfrm>
          <a:prstGeom prst="rect">
            <a:avLst/>
          </a:prstGeom>
          <a:solidFill>
            <a:srgbClr val="EF53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V.High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3611880"/>
            <a:ext cx="1508760" cy="594360"/>
          </a:xfrm>
          <a:prstGeom prst="rect">
            <a:avLst/>
          </a:prstGeom>
          <a:solidFill>
            <a:srgbClr val="FFE0B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3611880"/>
            <a:ext cx="1508760" cy="594360"/>
          </a:xfrm>
          <a:prstGeom prst="rect">
            <a:avLst/>
          </a:prstGeom>
          <a:solidFill>
            <a:srgbClr val="EF53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V.High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61120" y="3611880"/>
            <a:ext cx="1508760" cy="594360"/>
          </a:xfrm>
          <a:prstGeom prst="rect">
            <a:avLst/>
          </a:prstGeom>
          <a:solidFill>
            <a:srgbClr val="C8E6C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424242"/>
                </a:solidFill>
              </a:rPr>
              <a:t>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" y="4251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24242"/>
                </a:solidFill>
              </a:rPr>
              <a:t>Glucocorticoids
(Intra-articular)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0" y="4251960"/>
            <a:ext cx="1508760" cy="594360"/>
          </a:xfrm>
          <a:prstGeom prst="rect">
            <a:avLst/>
          </a:prstGeom>
          <a:solidFill>
            <a:srgbClr val="FFE0B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7680" y="4251960"/>
            <a:ext cx="1508760" cy="594360"/>
          </a:xfrm>
          <a:prstGeom prst="rect">
            <a:avLst/>
          </a:prstGeom>
          <a:solidFill>
            <a:srgbClr val="FFF9C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424242"/>
                </a:solidFill>
              </a:rPr>
              <a:t>Med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60" y="4251960"/>
            <a:ext cx="1508760" cy="594360"/>
          </a:xfrm>
          <a:prstGeom prst="rect">
            <a:avLst/>
          </a:prstGeom>
          <a:solidFill>
            <a:srgbClr val="FFF9C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424242"/>
                </a:solidFill>
              </a:rPr>
              <a:t>Med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06640" y="4251960"/>
            <a:ext cx="1508760" cy="594360"/>
          </a:xfrm>
          <a:prstGeom prst="rect">
            <a:avLst/>
          </a:prstGeom>
          <a:solidFill>
            <a:srgbClr val="FFE0B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61120" y="4251960"/>
            <a:ext cx="1508760" cy="594360"/>
          </a:xfrm>
          <a:prstGeom prst="rect">
            <a:avLst/>
          </a:prstGeom>
          <a:solidFill>
            <a:srgbClr val="FFE0B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" y="48920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24242"/>
                </a:solidFill>
              </a:rPr>
              <a:t>Cardiovascular
(Diuretics/BB)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0" y="4892040"/>
            <a:ext cx="1508760" cy="594360"/>
          </a:xfrm>
          <a:prstGeom prst="rect">
            <a:avLst/>
          </a:prstGeom>
          <a:solidFill>
            <a:srgbClr val="FFE0B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0" y="4892040"/>
            <a:ext cx="1508760" cy="594360"/>
          </a:xfrm>
          <a:prstGeom prst="rect">
            <a:avLst/>
          </a:prstGeom>
          <a:solidFill>
            <a:srgbClr val="FFE0B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4892040"/>
            <a:ext cx="1508760" cy="594360"/>
          </a:xfrm>
          <a:prstGeom prst="rect">
            <a:avLst/>
          </a:prstGeom>
          <a:solidFill>
            <a:srgbClr val="FFE0B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06640" y="4892040"/>
            <a:ext cx="1508760" cy="594360"/>
          </a:xfrm>
          <a:prstGeom prst="rect">
            <a:avLst/>
          </a:prstGeom>
          <a:solidFill>
            <a:srgbClr val="FFE0B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61120" y="4892040"/>
            <a:ext cx="1508760" cy="594360"/>
          </a:xfrm>
          <a:prstGeom prst="rect">
            <a:avLst/>
          </a:prstGeom>
          <a:solidFill>
            <a:srgbClr val="FFF9C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424242"/>
                </a:solidFill>
              </a:rPr>
              <a:t>Med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" y="55321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24242"/>
                </a:solidFill>
              </a:rPr>
              <a:t>PCOS/Fertility
(Letrozole/Clomiphene)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0" y="5532120"/>
            <a:ext cx="1508760" cy="594360"/>
          </a:xfrm>
          <a:prstGeom prst="rect">
            <a:avLst/>
          </a:prstGeom>
          <a:solidFill>
            <a:srgbClr val="EF53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V.High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97680" y="5532120"/>
            <a:ext cx="1508760" cy="594360"/>
          </a:xfrm>
          <a:prstGeom prst="rect">
            <a:avLst/>
          </a:prstGeom>
          <a:solidFill>
            <a:srgbClr val="FFE0B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52160" y="5532120"/>
            <a:ext cx="1508760" cy="594360"/>
          </a:xfrm>
          <a:prstGeom prst="rect">
            <a:avLst/>
          </a:prstGeom>
          <a:solidFill>
            <a:srgbClr val="FFF9C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424242"/>
                </a:solidFill>
              </a:rPr>
              <a:t>Med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06640" y="5532120"/>
            <a:ext cx="1508760" cy="594360"/>
          </a:xfrm>
          <a:prstGeom prst="rect">
            <a:avLst/>
          </a:prstGeom>
          <a:solidFill>
            <a:srgbClr val="FFE0B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61120" y="5532120"/>
            <a:ext cx="1508760" cy="594360"/>
          </a:xfrm>
          <a:prstGeom prst="rect">
            <a:avLst/>
          </a:prstGeom>
          <a:solidFill>
            <a:srgbClr val="C8E6C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000" b="1">
                <a:solidFill>
                  <a:srgbClr val="424242"/>
                </a:solidFill>
              </a:rPr>
              <a:t>Low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71600" y="5760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24242"/>
                </a:solidFill>
              </a:rPr>
              <a:t>Gap Severity: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0" y="5760720"/>
            <a:ext cx="1371600" cy="320040"/>
          </a:xfrm>
          <a:prstGeom prst="rect">
            <a:avLst/>
          </a:prstGeom>
          <a:solidFill>
            <a:srgbClr val="E8F5E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424242"/>
                </a:solidFill>
              </a:rPr>
              <a:t>None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5760720"/>
            <a:ext cx="1371600" cy="320040"/>
          </a:xfrm>
          <a:prstGeom prst="rect">
            <a:avLst/>
          </a:prstGeom>
          <a:solidFill>
            <a:srgbClr val="C8E6C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424242"/>
                </a:solidFill>
              </a:rPr>
              <a:t>Low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0" y="5760720"/>
            <a:ext cx="1371600" cy="320040"/>
          </a:xfrm>
          <a:prstGeom prst="rect">
            <a:avLst/>
          </a:prstGeom>
          <a:solidFill>
            <a:srgbClr val="FFF9C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424242"/>
                </a:solidFill>
              </a:rPr>
              <a:t>Medium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0" y="5760720"/>
            <a:ext cx="1371600" cy="320040"/>
          </a:xfrm>
          <a:prstGeom prst="rect">
            <a:avLst/>
          </a:prstGeom>
          <a:solidFill>
            <a:srgbClr val="FFE0B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686800" y="5760720"/>
            <a:ext cx="1371600" cy="320040"/>
          </a:xfrm>
          <a:prstGeom prst="rect">
            <a:avLst/>
          </a:prstGeom>
          <a:solidFill>
            <a:srgbClr val="EF53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Very High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424242"/>
                </a:solidFill>
              </a:rPr>
              <a:t>Figure 3. Clinical-competition gap risk matrix by disease area and assessment dimension.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