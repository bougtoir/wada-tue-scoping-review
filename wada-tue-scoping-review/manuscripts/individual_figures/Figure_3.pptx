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000">
                <a:solidFill>
                  <a:srgbClr val="1B3A5C"/>
                </a:solidFill>
              </a:rPr>
              <a:t>Figure 3. Clinical-Competition Gap Risk Matrix
by Disease Area and Assessment Dimension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188720"/>
          <a:ext cx="103327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463040"/>
                <a:gridCol w="1463040"/>
                <a:gridCol w="1463040"/>
                <a:gridCol w="1463040"/>
                <a:gridCol w="146304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Disease Area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First-line Rx</a:t>
                      </a:r>
                    </a:p>
                    <a:p>
                      <a:pPr algn="ctr"/>
                      <a:r>
                        <a:rPr sz="900" b="1"/>
                        <a:t>Prohibited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TUE Process</a:t>
                      </a:r>
                    </a:p>
                    <a:p>
                      <a:pPr algn="ctr"/>
                      <a:r>
                        <a:rPr sz="900" b="1"/>
                        <a:t>Complexity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Guideline</a:t>
                      </a:r>
                    </a:p>
                    <a:p>
                      <a:pPr algn="ctr"/>
                      <a:r>
                        <a:rPr sz="900" b="1"/>
                        <a:t>Update Lag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Athlete</a:t>
                      </a:r>
                    </a:p>
                    <a:p>
                      <a:pPr algn="ctr"/>
                      <a:r>
                        <a:rPr sz="900" b="1"/>
                        <a:t>Impact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Alternative Rx</a:t>
                      </a:r>
                    </a:p>
                    <a:p>
                      <a:pPr algn="ctr"/>
                      <a:r>
                        <a:rPr sz="900" b="1"/>
                        <a:t>Availability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Asthma (Beta-2 agonists)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Med</a:t>
                      </a:r>
                    </a:p>
                  </a:txBody>
                  <a:tcPr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Med</a:t>
                      </a:r>
                    </a:p>
                  </a:txBody>
                  <a:tcPr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Med</a:t>
                      </a:r>
                    </a:p>
                  </a:txBody>
                  <a:tcPr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High</a:t>
                      </a:r>
                    </a:p>
                  </a:txBody>
                  <a:tcPr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V.High</a:t>
                      </a:r>
                    </a:p>
                  </a:txBody>
                  <a:tcPr anchor="ctr">
                    <a:solidFill>
                      <a:srgbClr val="EF535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ADHD (Stimulants)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V.High</a:t>
                      </a:r>
                    </a:p>
                  </a:txBody>
                  <a:tcPr anchor="ctr">
                    <a:solidFill>
                      <a:srgbClr val="EF53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V.High</a:t>
                      </a:r>
                    </a:p>
                  </a:txBody>
                  <a:tcPr anchor="ctr">
                    <a:solidFill>
                      <a:srgbClr val="EF53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Med</a:t>
                      </a:r>
                    </a:p>
                  </a:txBody>
                  <a:tcPr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V.High</a:t>
                      </a:r>
                    </a:p>
                  </a:txBody>
                  <a:tcPr anchor="ctr">
                    <a:solidFill>
                      <a:srgbClr val="EF53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Med</a:t>
                      </a:r>
                    </a:p>
                  </a:txBody>
                  <a:tcPr anchor="ctr">
                    <a:solidFill>
                      <a:srgbClr val="FFF9C4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Type 2 Diabetes (GLP-1 RAs)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Low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Med</a:t>
                      </a:r>
                    </a:p>
                  </a:txBody>
                  <a:tcPr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High</a:t>
                      </a:r>
                    </a:p>
                  </a:txBody>
                  <a:tcPr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High</a:t>
                      </a:r>
                    </a:p>
                  </a:txBody>
                  <a:tcPr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High</a:t>
                      </a:r>
                    </a:p>
                  </a:txBody>
                  <a:tcPr anchor="ctr">
                    <a:solidFill>
                      <a:srgbClr val="FFE0B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Male Hypogonadism (Testosterone)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V.High</a:t>
                      </a:r>
                    </a:p>
                  </a:txBody>
                  <a:tcPr anchor="ctr">
                    <a:solidFill>
                      <a:srgbClr val="EF53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V.High</a:t>
                      </a:r>
                    </a:p>
                  </a:txBody>
                  <a:tcPr anchor="ctr">
                    <a:solidFill>
                      <a:srgbClr val="EF53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High</a:t>
                      </a:r>
                    </a:p>
                  </a:txBody>
                  <a:tcPr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V.High</a:t>
                      </a:r>
                    </a:p>
                  </a:txBody>
                  <a:tcPr anchor="ctr">
                    <a:solidFill>
                      <a:srgbClr val="EF53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Low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Glucocorticoids (Intra-articular)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High</a:t>
                      </a:r>
                    </a:p>
                  </a:txBody>
                  <a:tcPr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Med</a:t>
                      </a:r>
                    </a:p>
                  </a:txBody>
                  <a:tcPr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Med</a:t>
                      </a:r>
                    </a:p>
                  </a:txBody>
                  <a:tcPr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High</a:t>
                      </a:r>
                    </a:p>
                  </a:txBody>
                  <a:tcPr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High</a:t>
                      </a:r>
                    </a:p>
                  </a:txBody>
                  <a:tcPr anchor="ctr">
                    <a:solidFill>
                      <a:srgbClr val="FFE0B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Cardiovascular (Diuretics/BB)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High</a:t>
                      </a:r>
                    </a:p>
                  </a:txBody>
                  <a:tcPr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High</a:t>
                      </a:r>
                    </a:p>
                  </a:txBody>
                  <a:tcPr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High</a:t>
                      </a:r>
                    </a:p>
                  </a:txBody>
                  <a:tcPr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High</a:t>
                      </a:r>
                    </a:p>
                  </a:txBody>
                  <a:tcPr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Med</a:t>
                      </a:r>
                    </a:p>
                  </a:txBody>
                  <a:tcPr anchor="ctr">
                    <a:solidFill>
                      <a:srgbClr val="FFF9C4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PCOS/Fertility (Letrozole/Clomiphene)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V.High</a:t>
                      </a:r>
                    </a:p>
                  </a:txBody>
                  <a:tcPr anchor="ctr">
                    <a:solidFill>
                      <a:srgbClr val="EF53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High</a:t>
                      </a:r>
                    </a:p>
                  </a:txBody>
                  <a:tcPr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Med</a:t>
                      </a:r>
                    </a:p>
                  </a:txBody>
                  <a:tcPr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High</a:t>
                      </a:r>
                    </a:p>
                  </a:txBody>
                  <a:tcPr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Low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424242"/>
                </a:solidFill>
              </a:rPr>
              <a:t>Figure 3. Clinical-competition gap risk matrix by disease area and assessment dimension.
Severity: None (0), Low (1), Medium (2), High (3), Very High (4).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