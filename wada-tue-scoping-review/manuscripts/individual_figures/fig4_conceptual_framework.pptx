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1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741505" y="929115"/>
            <a:ext cx="4114800" cy="20116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B5E20"/>
                </a:solidFill>
              </a:rPr>
              <a:t>CLINICAL PRACTICE
GUIDELINES</a:t>
            </a:r>
            <a:r>
              <a:rPr sz="1100" b="0" dirty="0">
                <a:solidFill>
                  <a:srgbClr val="1B5E20"/>
                </a:solidFill>
              </a:rPr>
              <a:t>
GINA (Asthma)
ADA (Diabetes)
Endocrine Society
ESC (Cardiology)
NICE (ADHD)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25185" y="929115"/>
            <a:ext cx="4114800" cy="20116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0D47A1"/>
                </a:solidFill>
              </a:rPr>
              <a:t>WADA ANTI-DOPING
REGULATIONS</a:t>
            </a:r>
            <a:r>
              <a:rPr sz="1100" b="0" dirty="0">
                <a:solidFill>
                  <a:srgbClr val="0D47A1"/>
                </a:solidFill>
              </a:rPr>
              <a:t>
Prohibited List
ISTUE Standards
TUE Physician Guidelines
Monitoring Program
ADAMS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104" y="303354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 dirty="0">
                <a:solidFill>
                  <a:srgbClr val="2E7D32"/>
                </a:solidFill>
              </a:rPr>
              <a:t>Evidence-based
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8967" y="3036702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1565C0"/>
                </a:solidFill>
              </a:rPr>
              <a:t>Regulatory
restrictions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67585" y="3260835"/>
            <a:ext cx="4846320" cy="13716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B71C1C"/>
                </a:solidFill>
              </a:rPr>
              <a:t>CLINICAL-COMPETITION GAP</a:t>
            </a:r>
            <a:r>
              <a:rPr sz="1200" b="1" dirty="0">
                <a:solidFill>
                  <a:srgbClr val="B71C1C"/>
                </a:solidFill>
              </a:rPr>
              <a:t>
Update timing lag | Divergent criteria
Prohibited first-line Rx | TUE process barriers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01240" y="4929615"/>
            <a:ext cx="7589520" cy="10972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BF360C"/>
                </a:solidFill>
              </a:rPr>
              <a:t>IMPACT ON ATHLETES
Suboptimal treatment | Delayed care access | ADRV risk
Privacy concerns | Geographic disparities | Career impact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95985" y="6324075"/>
            <a:ext cx="7589520" cy="320040"/>
          </a:xfrm>
          <a:prstGeom prst="roundRect">
            <a:avLst/>
          </a:prstGeom>
          <a:solidFill>
            <a:srgbClr val="E0E0E0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bIns="508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24242"/>
                </a:solidFill>
              </a:rPr>
              <a:t>RECOMMENDATIONS: Harmonize updates | Streamline TUE | Educate clinicians</a:t>
            </a:r>
          </a:p>
        </p:txBody>
      </p: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AE8DC6B8-2844-3214-C868-B7D04F6AC630}"/>
              </a:ext>
            </a:extLst>
          </p:cNvPr>
          <p:cNvCxnSpPr>
            <a:stCxn id="3" idx="2"/>
            <a:endCxn id="7" idx="1"/>
          </p:cNvCxnSpPr>
          <p:nvPr/>
        </p:nvCxnSpPr>
        <p:spPr>
          <a:xfrm rot="16200000" flipH="1">
            <a:off x="2730325" y="3009375"/>
            <a:ext cx="1005840" cy="8686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E1037088-F184-98A1-8B2F-C2AC733D20E5}"/>
              </a:ext>
            </a:extLst>
          </p:cNvPr>
          <p:cNvCxnSpPr>
            <a:stCxn id="4" idx="2"/>
            <a:endCxn id="7" idx="3"/>
          </p:cNvCxnSpPr>
          <p:nvPr/>
        </p:nvCxnSpPr>
        <p:spPr>
          <a:xfrm rot="5400000">
            <a:off x="8445325" y="3009375"/>
            <a:ext cx="1005840" cy="8686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89BEF88-4ABD-B73E-C524-BFEE730A2D61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6090745" y="4632435"/>
            <a:ext cx="5255" cy="297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F9D488C-6AF9-722F-576D-60670E79F240}"/>
              </a:ext>
            </a:extLst>
          </p:cNvPr>
          <p:cNvCxnSpPr/>
          <p:nvPr/>
        </p:nvCxnSpPr>
        <p:spPr>
          <a:xfrm>
            <a:off x="6085490" y="6010998"/>
            <a:ext cx="5255" cy="2971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ワイド画面</PresentationFormat>
  <Paragraphs>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tatsuki onishi</cp:lastModifiedBy>
  <cp:revision>3</cp:revision>
  <dcterms:created xsi:type="dcterms:W3CDTF">2013-01-27T09:14:16Z</dcterms:created>
  <dcterms:modified xsi:type="dcterms:W3CDTF">2026-05-09T14:25:09Z</dcterms:modified>
  <cp:category/>
</cp:coreProperties>
</file>