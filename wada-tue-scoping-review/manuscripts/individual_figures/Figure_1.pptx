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000">
                <a:solidFill>
                  <a:srgbClr val="1B3A5C"/>
                </a:solidFill>
              </a:rPr>
              <a:t>Figure 1. PRISMA-ScR Flow Diagram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0" y="914400"/>
            <a:ext cx="2743200" cy="64008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24242"/>
                </a:solidFill>
              </a:rPr>
              <a:t>Records from database searching
(n = 847)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0" y="914400"/>
            <a:ext cx="2743200" cy="64008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24242"/>
                </a:solidFill>
              </a:rPr>
              <a:t>Additional records from
grey literature &amp; guidelines (n = 156)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1828800"/>
            <a:ext cx="4114800" cy="64008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24242"/>
                </a:solidFill>
              </a:rPr>
              <a:t>Records after duplicates removed (n = 724)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2743200"/>
            <a:ext cx="4114800" cy="64008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24242"/>
                </a:solidFill>
              </a:rPr>
              <a:t>Records screened by title/abstract (n = 724)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2743200"/>
            <a:ext cx="2286000" cy="640080"/>
          </a:xfrm>
          <a:prstGeom prst="roundRect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24242"/>
                </a:solidFill>
              </a:rPr>
              <a:t>Records excluded (n = 518)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3657600"/>
            <a:ext cx="4114800" cy="640080"/>
          </a:xfrm>
          <a:prstGeom prst="roundRect">
            <a:avLst/>
          </a:prstGeom>
          <a:solidFill>
            <a:srgbClr val="FFF9C4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24242"/>
                </a:solidFill>
              </a:rPr>
              <a:t>Full-text assessed for eligibility (n = 206)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0" y="3657600"/>
            <a:ext cx="2286000" cy="640080"/>
          </a:xfrm>
          <a:prstGeom prst="roundRect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24242"/>
                </a:solidFill>
              </a:rPr>
              <a:t>Full-text excluded (n = 138)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0" y="4572000"/>
            <a:ext cx="4114800" cy="64008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24242"/>
                </a:solidFill>
              </a:rPr>
              <a:t>Sources included in review (n = 68)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5486400"/>
            <a:ext cx="2560320" cy="54864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24242"/>
                </a:solidFill>
              </a:rPr>
              <a:t>WADA regulatory docs (n = 18)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5486400"/>
            <a:ext cx="2560320" cy="54864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24242"/>
                </a:solidFill>
              </a:rPr>
              <a:t>Clinical practice guidelines (n = 22)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5486400"/>
            <a:ext cx="2560320" cy="5486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24242"/>
                </a:solidFill>
              </a:rPr>
              <a:t>Peer-reviewed articles (n = 28)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91440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 i="1">
                <a:solidFill>
                  <a:srgbClr val="1B3A5C"/>
                </a:solidFill>
              </a:rPr>
              <a:t>IDENTIFICATION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274320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 i="1">
                <a:solidFill>
                  <a:srgbClr val="1B3A5C"/>
                </a:solidFill>
              </a:rPr>
              <a:t>SCREENING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365760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 i="1">
                <a:solidFill>
                  <a:srgbClr val="1B3A5C"/>
                </a:solidFill>
              </a:rPr>
              <a:t>ELIGIBILITY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7200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 i="1">
                <a:solidFill>
                  <a:srgbClr val="1B3A5C"/>
                </a:solidFill>
              </a:rPr>
              <a:t>INCLUDED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424242"/>
                </a:solidFill>
              </a:rPr>
              <a:t>Figure 1. PRISMA-ScR flow diagram illustrating the source selection process.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