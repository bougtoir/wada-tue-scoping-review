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1B3A5C"/>
                </a:solidFill>
              </a:rPr>
              <a:t>Figure 1. PRISMA-ScR Flow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1B3A5C"/>
                </a:solidFill>
              </a:rPr>
              <a:t>IDENTIFICATION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005840"/>
            <a:ext cx="2560320" cy="5943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 lIns="50800" rIns="50800"/>
          <a:lstStyle/>
          <a:p>
            <a:pPr algn="ctr"/>
            <a:r>
              <a:rPr sz="900" b="0">
                <a:solidFill>
                  <a:srgbClr val="424242"/>
                </a:solidFill>
              </a:rPr>
              <a:t>Records identified through
database searching (n = 847)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005840"/>
            <a:ext cx="2560320" cy="5943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 lIns="50800" rIns="50800"/>
          <a:lstStyle/>
          <a:p>
            <a:pPr algn="ctr"/>
            <a:r>
              <a:rPr sz="900" b="0">
                <a:solidFill>
                  <a:srgbClr val="424242"/>
                </a:solidFill>
              </a:rPr>
              <a:t>Additional records from grey
literature &amp; guidelines (n = 156)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023360" y="1600200"/>
            <a:ext cx="1097280" cy="274319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7040880" y="1600200"/>
            <a:ext cx="1097280" cy="274319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74320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1B3A5C"/>
                </a:solidFill>
              </a:rPr>
              <a:t>SCREENING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1920240"/>
            <a:ext cx="4389120" cy="5943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 lIns="50800" rIns="50800"/>
          <a:lstStyle/>
          <a:p>
            <a:pPr algn="ctr"/>
            <a:r>
              <a:rPr sz="1000" b="0">
                <a:solidFill>
                  <a:srgbClr val="424242"/>
                </a:solidFill>
              </a:rPr>
              <a:t>Records after duplicates removed (n = 724)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35040" y="2514600"/>
            <a:ext cx="0" cy="274320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40480" y="2834640"/>
            <a:ext cx="4389120" cy="5943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 lIns="50800" rIns="50800"/>
          <a:lstStyle/>
          <a:p>
            <a:pPr algn="ctr"/>
            <a:r>
              <a:rPr sz="1000" b="0">
                <a:solidFill>
                  <a:srgbClr val="424242"/>
                </a:solidFill>
              </a:rPr>
              <a:t>Records screened by title/abstract (n = 724)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2834640"/>
            <a:ext cx="2103120" cy="59436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 lIns="50800" rIns="50800"/>
          <a:lstStyle/>
          <a:p>
            <a:pPr algn="ctr"/>
            <a:r>
              <a:rPr sz="900" b="0">
                <a:solidFill>
                  <a:srgbClr val="424242"/>
                </a:solidFill>
              </a:rPr>
              <a:t>Records excluded
(n = 518)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0" y="3108960"/>
            <a:ext cx="457200" cy="0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3429000"/>
            <a:ext cx="0" cy="274320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4320" y="3657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1B3A5C"/>
                </a:solidFill>
              </a:rPr>
              <a:t>ELIGIBILITY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0" y="3749039"/>
            <a:ext cx="4389120" cy="594360"/>
          </a:xfrm>
          <a:prstGeom prst="roundRect">
            <a:avLst/>
          </a:prstGeom>
          <a:solidFill>
            <a:srgbClr val="FFF9C4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 lIns="50800" rIns="50800"/>
          <a:lstStyle/>
          <a:p>
            <a:pPr algn="ctr"/>
            <a:r>
              <a:rPr sz="1000" b="0">
                <a:solidFill>
                  <a:srgbClr val="424242"/>
                </a:solidFill>
              </a:rPr>
              <a:t>Full-text articles assessed for eligibility (n = 206)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749039"/>
            <a:ext cx="2103120" cy="59436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 lIns="50800" rIns="50800"/>
          <a:lstStyle/>
          <a:p>
            <a:pPr algn="ctr"/>
            <a:r>
              <a:rPr sz="900" b="0">
                <a:solidFill>
                  <a:srgbClr val="424242"/>
                </a:solidFill>
              </a:rPr>
              <a:t>Full-text excluded
(n = 138)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29600" y="4023360"/>
            <a:ext cx="457200" cy="0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503920" y="4389120"/>
            <a:ext cx="2926080" cy="914400"/>
          </a:xfrm>
          <a:prstGeom prst="roundRect">
            <a:avLst/>
          </a:prstGeom>
          <a:solidFill>
            <a:srgbClr val="FFF9C4"/>
          </a:solidFill>
          <a:ln w="1905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 lIns="50800" rIns="50800"/>
          <a:lstStyle/>
          <a:p>
            <a:pPr algn="ctr"/>
            <a:r>
              <a:rPr sz="700" b="0">
                <a:solidFill>
                  <a:srgbClr val="757575"/>
                </a:solidFill>
              </a:rPr>
              <a:t>Reasons for exclusion:
- Not athlete-specific (n=42)
- Outdated guidelines (n=31)
- Not TUE-related (n=38)
- Duplicate data (n=27)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4343400"/>
            <a:ext cx="0" cy="274320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4320" y="4572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1B3A5C"/>
                </a:solidFill>
              </a:rPr>
              <a:t>INCLUDED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4663440"/>
            <a:ext cx="4389120" cy="5943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 lIns="50800" rIns="50800"/>
          <a:lstStyle/>
          <a:p>
            <a:pPr algn="ctr"/>
            <a:r>
              <a:rPr sz="1100" b="1">
                <a:solidFill>
                  <a:srgbClr val="424242"/>
                </a:solidFill>
              </a:rPr>
              <a:t>Sources of evidence included in review (n = 68)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3200400" y="5257800"/>
            <a:ext cx="1737360" cy="274320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35040" y="5257800"/>
            <a:ext cx="0" cy="274320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132320" y="5257800"/>
            <a:ext cx="1737360" cy="274320"/>
          </a:xfrm>
          <a:prstGeom prst="line">
            <a:avLst/>
          </a:prstGeom>
          <a:ln w="19050">
            <a:solidFill>
              <a:srgbClr val="4242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103120" y="5577840"/>
            <a:ext cx="2286000" cy="5029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 lIns="50800" rIns="50800"/>
          <a:lstStyle/>
          <a:p>
            <a:pPr algn="ctr"/>
            <a:r>
              <a:rPr sz="800" b="0">
                <a:solidFill>
                  <a:srgbClr val="424242"/>
                </a:solidFill>
              </a:rPr>
              <a:t>WADA regulatory
documents (n = 18)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0" y="5577840"/>
            <a:ext cx="2286000" cy="502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 lIns="50800" rIns="50800"/>
          <a:lstStyle/>
          <a:p>
            <a:pPr algn="ctr"/>
            <a:r>
              <a:rPr sz="800" b="0">
                <a:solidFill>
                  <a:srgbClr val="424242"/>
                </a:solidFill>
              </a:rPr>
              <a:t>Clinical practice
guidelines (n = 22)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0" y="5577840"/>
            <a:ext cx="2286000" cy="5029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 lIns="50800" rIns="50800"/>
          <a:lstStyle/>
          <a:p>
            <a:pPr algn="ctr"/>
            <a:r>
              <a:rPr sz="800" b="0">
                <a:solidFill>
                  <a:srgbClr val="424242"/>
                </a:solidFill>
              </a:rPr>
              <a:t>Peer-reviewed
articles (n = 28)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6126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757575"/>
                </a:solidFill>
              </a:rPr>
              <a:t>Disease Areas Mapped: Asthma (n=12) | ADHD (n=9) | Diabetes/GLP-1 (n=11) | Hypogonadism (n=10) | GC (n=9) | CV (n=8) | PCOS (n=9)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424242"/>
                </a:solidFill>
              </a:rPr>
              <a:t>Figure 1. PRISMA-ScR flow diagram illustrating the source selection process.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