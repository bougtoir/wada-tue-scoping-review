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3A5C"/>
                </a:solidFill>
              </a:rPr>
              <a:t>Figure 2. Conceptual Framework:
The Clinical-Competition Gap in Anti-Doping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4114800" cy="20116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5E20"/>
                </a:solidFill>
              </a:rPr>
              <a:t>CLINICAL PRACTICE
GUIDELINES
GINA (Asthma)
ADA (Diabetes)
Endocrine Society
ESC (Cardiology)
NICE (ADHD)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097280"/>
            <a:ext cx="4114800" cy="20116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D47A1"/>
                </a:solidFill>
              </a:rPr>
              <a:t>WADA ANTI-DOPING
REGULATIONS
Prohibited List
ISTUE Standards
TUE Physician Guidelines
Monitoring Program
ADAMS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32004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2E7D32"/>
                </a:solidFill>
              </a:rPr>
              <a:t>Evidence-based
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32004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1565C0"/>
                </a:solidFill>
              </a:rPr>
              <a:t>Regulatory
restrictions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657600"/>
            <a:ext cx="4846320" cy="137160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71C1C"/>
                </a:solidFill>
              </a:rPr>
              <a:t>CLINICAL-COMPETITION GAP
Update timing lag | Divergent criteria
Prohibited first-line Rx | TUE process barriers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5303520"/>
            <a:ext cx="7589520" cy="10972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F360C"/>
                </a:solidFill>
              </a:rPr>
              <a:t>IMPACT ON ATHLETES
Suboptimal treatment | Delayed care access | ADRV risk
Privacy concerns | Geographic disparities | Career impact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6492240"/>
            <a:ext cx="7589520" cy="320040"/>
          </a:xfrm>
          <a:prstGeom prst="roundRect">
            <a:avLst/>
          </a:prstGeom>
          <a:solidFill>
            <a:srgbClr val="E0E0E0"/>
          </a:solidFill>
          <a:ln w="19050">
            <a:solidFill>
              <a:srgbClr val="75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24242"/>
                </a:solidFill>
              </a:rPr>
              <a:t>RECOMMENDATIONS: Harmonize updates | Streamline TUE | Educate clinicians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