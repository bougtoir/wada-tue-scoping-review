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000">
                <a:solidFill>
                  <a:srgbClr val="1B3A5C"/>
                </a:solidFill>
              </a:rPr>
              <a:t>Figure 5. Clinical-Competition Gap Severity
by Disease Area and Assessment Dimension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188720"/>
          <a:ext cx="10332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Disease Area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First-line Rx</a:t>
                      </a:r>
                    </a:p>
                    <a:p>
                      <a:pPr algn="ctr"/>
                      <a:r>
                        <a:rPr sz="900" b="1"/>
                        <a:t>Prohibited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TUE Process</a:t>
                      </a:r>
                    </a:p>
                    <a:p>
                      <a:pPr algn="ctr"/>
                      <a:r>
                        <a:rPr sz="900" b="1"/>
                        <a:t>Complexity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Guideline</a:t>
                      </a:r>
                    </a:p>
                    <a:p>
                      <a:pPr algn="ctr"/>
                      <a:r>
                        <a:rPr sz="900" b="1"/>
                        <a:t>Update Lag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Athlete</a:t>
                      </a:r>
                    </a:p>
                    <a:p>
                      <a:pPr algn="ctr"/>
                      <a:r>
                        <a:rPr sz="900" b="1"/>
                        <a:t>Impact</a:t>
                      </a:r>
                    </a:p>
                  </a:txBody>
                  <a:tcPr anchor="ctr">
                    <a:solidFill>
                      <a:srgbClr val="E3F2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Male Hypogonadism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Very High (4)</a:t>
                      </a:r>
                    </a:p>
                  </a:txBody>
                  <a:tcPr anchor="ctr">
                    <a:solidFill>
                      <a:srgbClr val="EF53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Very High (4)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High (3)</a:t>
                      </a:r>
                    </a:p>
                  </a:txBody>
                  <a:tcPr anchor="ctr">
                    <a:solidFill>
                      <a:srgbClr val="FDE1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Very High (4)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ADHD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Very High (4)</a:t>
                      </a:r>
                    </a:p>
                  </a:txBody>
                  <a:tcPr anchor="ctr">
                    <a:solidFill>
                      <a:srgbClr val="EF53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Very High (4)</a:t>
                      </a:r>
                    </a:p>
                  </a:txBody>
                  <a:tcPr anchor="ctr">
                    <a:solidFill>
                      <a:srgbClr val="FF98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Medium (2)</a:t>
                      </a:r>
                    </a:p>
                  </a:txBody>
                  <a:tcPr anchor="ctr">
                    <a:solidFill>
                      <a:srgbClr val="FEEB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Very High (4)</a:t>
                      </a:r>
                    </a:p>
                  </a:txBody>
                  <a:tcPr anchor="ctr">
                    <a:solidFill>
                      <a:srgbClr val="42A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PCOS/Fertility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Very High (4)</a:t>
                      </a:r>
                    </a:p>
                  </a:txBody>
                  <a:tcPr anchor="ctr">
                    <a:solidFill>
                      <a:srgbClr val="EF53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High (3)</a:t>
                      </a:r>
                    </a:p>
                  </a:txBody>
                  <a:tcPr anchor="ctr">
                    <a:solidFill>
                      <a:srgbClr val="FFB1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Medium (2)</a:t>
                      </a:r>
                    </a:p>
                  </a:txBody>
                  <a:tcPr anchor="ctr">
                    <a:solidFill>
                      <a:srgbClr val="FEEB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High (3)</a:t>
                      </a:r>
                    </a:p>
                  </a:txBody>
                  <a:tcPr anchor="ctr">
                    <a:solidFill>
                      <a:srgbClr val="71B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Cardiovascular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High (3)</a:t>
                      </a:r>
                    </a:p>
                  </a:txBody>
                  <a:tcPr anchor="ctr">
                    <a:solidFill>
                      <a:srgbClr val="F37E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High (3)</a:t>
                      </a:r>
                    </a:p>
                  </a:txBody>
                  <a:tcPr anchor="ctr">
                    <a:solidFill>
                      <a:srgbClr val="FFB1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High (3)</a:t>
                      </a:r>
                    </a:p>
                  </a:txBody>
                  <a:tcPr anchor="ctr">
                    <a:solidFill>
                      <a:srgbClr val="FDE1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High (3)</a:t>
                      </a:r>
                    </a:p>
                  </a:txBody>
                  <a:tcPr anchor="ctr">
                    <a:solidFill>
                      <a:srgbClr val="71B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Glucocorticoids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High (3)</a:t>
                      </a:r>
                    </a:p>
                  </a:txBody>
                  <a:tcPr anchor="ctr">
                    <a:solidFill>
                      <a:srgbClr val="F37E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Medium (2)</a:t>
                      </a:r>
                    </a:p>
                  </a:txBody>
                  <a:tcPr anchor="ctr">
                    <a:solidFill>
                      <a:srgbClr val="FFC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Medium (2)</a:t>
                      </a:r>
                    </a:p>
                  </a:txBody>
                  <a:tcPr anchor="ctr">
                    <a:solidFill>
                      <a:srgbClr val="FEEB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High (3)</a:t>
                      </a:r>
                    </a:p>
                  </a:txBody>
                  <a:tcPr anchor="ctr">
                    <a:solidFill>
                      <a:srgbClr val="71B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Asthma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Medium (2)</a:t>
                      </a:r>
                    </a:p>
                  </a:txBody>
                  <a:tcPr anchor="ctr">
                    <a:solidFill>
                      <a:srgbClr val="F7A9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Medium (2)</a:t>
                      </a:r>
                    </a:p>
                  </a:txBody>
                  <a:tcPr anchor="ctr">
                    <a:solidFill>
                      <a:srgbClr val="FFC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Medium (2)</a:t>
                      </a:r>
                    </a:p>
                  </a:txBody>
                  <a:tcPr anchor="ctr">
                    <a:solidFill>
                      <a:srgbClr val="FEEB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High (3)</a:t>
                      </a:r>
                    </a:p>
                  </a:txBody>
                  <a:tcPr anchor="ctr">
                    <a:solidFill>
                      <a:srgbClr val="71B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Type 2 Diabetes / GLP-1 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Low (1)</a:t>
                      </a:r>
                    </a:p>
                  </a:txBody>
                  <a:tcPr anchor="ctr">
                    <a:solidFill>
                      <a:srgbClr val="FBD4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Medium (2)</a:t>
                      </a:r>
                    </a:p>
                  </a:txBody>
                  <a:tcPr anchor="ctr">
                    <a:solidFill>
                      <a:srgbClr val="FFC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High (3)</a:t>
                      </a:r>
                    </a:p>
                  </a:txBody>
                  <a:tcPr anchor="ctr">
                    <a:solidFill>
                      <a:srgbClr val="FDE1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/>
                        <a:t>High (3)</a:t>
                      </a:r>
                    </a:p>
                  </a:txBody>
                  <a:tcPr anchor="ctr">
                    <a:solidFill>
                      <a:srgbClr val="71BB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/>
              <a:t>Severity Scale: None (0) | Low (1) | Medium (2) | High (3) | Very High (4)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424242"/>
                </a:solidFill>
              </a:rPr>
              <a:t>Figure 5. Clinical-competition gap severity by disease area and assessment dimension.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