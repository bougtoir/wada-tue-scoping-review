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16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24445" y="22174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1B3A5C"/>
                </a:solidFill>
              </a:rPr>
              <a:t>IDENTIFICATION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005840"/>
            <a:ext cx="2560320" cy="5943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900" b="0">
                <a:solidFill>
                  <a:srgbClr val="424242"/>
                </a:solidFill>
              </a:rPr>
              <a:t>Records identified through
database searching (n = 847)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005840"/>
            <a:ext cx="2560320" cy="5943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900" b="0">
                <a:solidFill>
                  <a:srgbClr val="424242"/>
                </a:solidFill>
              </a:rPr>
              <a:t>Additional records from grey
literature &amp; guidelines (n = 156)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4445" y="31318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 dirty="0">
                <a:solidFill>
                  <a:srgbClr val="1B3A5C"/>
                </a:solidFill>
              </a:rPr>
              <a:t>SCREENING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920240"/>
            <a:ext cx="4389120" cy="5943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1000" b="0">
                <a:solidFill>
                  <a:srgbClr val="424242"/>
                </a:solidFill>
              </a:rPr>
              <a:t>Records after duplicates removed (n = 724)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35040" y="2514600"/>
            <a:ext cx="0" cy="27432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0" y="2834640"/>
            <a:ext cx="4389120" cy="5943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1000" b="0">
                <a:solidFill>
                  <a:srgbClr val="424242"/>
                </a:solidFill>
              </a:rPr>
              <a:t>Records screened by title/abstract (n = 724)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2834640"/>
            <a:ext cx="2103120" cy="5943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900" b="0">
                <a:solidFill>
                  <a:srgbClr val="424242"/>
                </a:solidFill>
              </a:rPr>
              <a:t>Records excluded
(n = 518)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0" y="3108960"/>
            <a:ext cx="457200" cy="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3429000"/>
            <a:ext cx="0" cy="27432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24445" y="3977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 dirty="0">
                <a:solidFill>
                  <a:srgbClr val="1B3A5C"/>
                </a:solidFill>
              </a:rPr>
              <a:t>ELIGIBILITY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3749039"/>
            <a:ext cx="4389120" cy="594360"/>
          </a:xfrm>
          <a:prstGeom prst="roundRect">
            <a:avLst/>
          </a:prstGeom>
          <a:solidFill>
            <a:srgbClr val="FFF9C4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1000" b="0">
                <a:solidFill>
                  <a:srgbClr val="424242"/>
                </a:solidFill>
              </a:rPr>
              <a:t>Full-text articles assessed for eligibility (n = 206)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749039"/>
            <a:ext cx="2103120" cy="5943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900" b="0">
                <a:solidFill>
                  <a:srgbClr val="424242"/>
                </a:solidFill>
              </a:rPr>
              <a:t>Full-text excluded
(n = 138)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600" y="4023360"/>
            <a:ext cx="457200" cy="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686800" y="4566744"/>
            <a:ext cx="2926080" cy="640079"/>
          </a:xfrm>
          <a:prstGeom prst="roundRect">
            <a:avLst/>
          </a:prstGeom>
          <a:solidFill>
            <a:srgbClr val="FFF9C4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700" b="0">
                <a:solidFill>
                  <a:srgbClr val="757575"/>
                </a:solidFill>
              </a:rPr>
              <a:t>Reasons for exclusion:
- Not athlete-specific (n=42)
- Outdated guidelines (n=31)
- Not TUE-related (n=38)
- Duplicate data (n=27)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4343400"/>
            <a:ext cx="0" cy="27432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24445" y="48234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 dirty="0">
                <a:solidFill>
                  <a:srgbClr val="1B3A5C"/>
                </a:solidFill>
              </a:rPr>
              <a:t>INCLUDED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4663440"/>
            <a:ext cx="4389120" cy="5943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1100" b="1">
                <a:solidFill>
                  <a:srgbClr val="424242"/>
                </a:solidFill>
              </a:rPr>
              <a:t>Sources of evidence included in review (n = 68)</a:t>
            </a:r>
          </a:p>
        </p:txBody>
      </p:sp>
      <p:cxnSp>
        <p:nvCxnSpPr>
          <p:cNvPr id="24" name="Connector 23"/>
          <p:cNvCxnSpPr>
            <a:cxnSpLocks/>
          </p:cNvCxnSpPr>
          <p:nvPr/>
        </p:nvCxnSpPr>
        <p:spPr>
          <a:xfrm>
            <a:off x="6035040" y="5257800"/>
            <a:ext cx="0" cy="27432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103120" y="5577840"/>
            <a:ext cx="2286000" cy="502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800" b="0">
                <a:solidFill>
                  <a:srgbClr val="424242"/>
                </a:solidFill>
              </a:rPr>
              <a:t>WADA regulatory
documents (n = 18)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0" y="5577840"/>
            <a:ext cx="228600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800" b="0">
                <a:solidFill>
                  <a:srgbClr val="424242"/>
                </a:solidFill>
              </a:rPr>
              <a:t>Clinical practice
guidelines (n = 22)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0" y="5577840"/>
            <a:ext cx="2286000" cy="5029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800" b="0">
                <a:solidFill>
                  <a:srgbClr val="424242"/>
                </a:solidFill>
              </a:rPr>
              <a:t>Peer-reviewed
articles (n = 28)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126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757575"/>
                </a:solidFill>
              </a:rPr>
              <a:t>Disease Areas Mapped: Asthma (n=12) | ADHD (n=9) | Diabetes/GLP-1 (n=11) | Hypogonadism (n=10) | GC (n=9) | CV (n=8) | PMOS (n=9)</a:t>
            </a:r>
          </a:p>
        </p:txBody>
      </p:sp>
      <p:cxnSp>
        <p:nvCxnSpPr>
          <p:cNvPr id="32" name="コネクタ: カギ線 31">
            <a:extLst>
              <a:ext uri="{FF2B5EF4-FFF2-40B4-BE49-F238E27FC236}">
                <a16:creationId xmlns:a16="http://schemas.microsoft.com/office/drawing/2014/main" id="{DC878BC7-2E86-E847-E598-DD427408E527}"/>
              </a:ext>
            </a:extLst>
          </p:cNvPr>
          <p:cNvCxnSpPr>
            <a:stCxn id="5" idx="2"/>
            <a:endCxn id="9" idx="0"/>
          </p:cNvCxnSpPr>
          <p:nvPr/>
        </p:nvCxnSpPr>
        <p:spPr>
          <a:xfrm rot="5400000">
            <a:off x="6926580" y="708660"/>
            <a:ext cx="320040" cy="210312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9DEF6769-4ABB-4423-1868-21B762ED13E3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16200000" flipH="1">
            <a:off x="4869180" y="754380"/>
            <a:ext cx="320040" cy="20116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コネクタ: カギ線 39">
            <a:extLst>
              <a:ext uri="{FF2B5EF4-FFF2-40B4-BE49-F238E27FC236}">
                <a16:creationId xmlns:a16="http://schemas.microsoft.com/office/drawing/2014/main" id="{69E4B33C-4F5A-9420-7F47-9431BD6FD044}"/>
              </a:ext>
            </a:extLst>
          </p:cNvPr>
          <p:cNvCxnSpPr>
            <a:stCxn id="22" idx="2"/>
            <a:endCxn id="28" idx="0"/>
          </p:cNvCxnSpPr>
          <p:nvPr/>
        </p:nvCxnSpPr>
        <p:spPr>
          <a:xfrm rot="16200000" flipH="1">
            <a:off x="7315200" y="3977640"/>
            <a:ext cx="320040" cy="2880360"/>
          </a:xfrm>
          <a:prstGeom prst="bentConnector3">
            <a:avLst>
              <a:gd name="adj1" fmla="val 4507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822B4E04-FFDD-836F-E4B2-12E83389580C}"/>
              </a:ext>
            </a:extLst>
          </p:cNvPr>
          <p:cNvCxnSpPr>
            <a:stCxn id="22" idx="2"/>
            <a:endCxn id="26" idx="0"/>
          </p:cNvCxnSpPr>
          <p:nvPr/>
        </p:nvCxnSpPr>
        <p:spPr>
          <a:xfrm rot="5400000">
            <a:off x="4480560" y="4023360"/>
            <a:ext cx="320040" cy="2788920"/>
          </a:xfrm>
          <a:prstGeom prst="bentConnector3">
            <a:avLst>
              <a:gd name="adj1" fmla="val 4507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223</Words>
  <Application>Microsoft Office PowerPoint</Application>
  <PresentationFormat>ワイド画面</PresentationFormat>
  <Paragraphs>19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tatsuki onishi</cp:lastModifiedBy>
  <cp:revision>2</cp:revision>
  <dcterms:created xsi:type="dcterms:W3CDTF">2013-01-27T09:14:16Z</dcterms:created>
  <dcterms:modified xsi:type="dcterms:W3CDTF">2026-05-09T14:44:45Z</dcterms:modified>
  <cp:category/>
</cp:coreProperties>
</file>