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1B3A5C"/>
                </a:solidFill>
              </a:rPr>
              <a:t>Figure 4. Timeline of Clinical Guideline Updates vs.
WADA TUE Regulatory Changes (2018–2026)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3429000"/>
            <a:ext cx="9601200" cy="0"/>
          </a:xfrm>
          <a:prstGeom prst="line">
            <a:avLst/>
          </a:prstGeom>
          <a:ln w="31750">
            <a:solidFill>
              <a:srgbClr val="42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49961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2018</a:t>
            </a:r>
          </a:p>
        </p:txBody>
      </p:sp>
      <p:sp>
        <p:nvSpPr>
          <p:cNvPr id="6" name="Oval 5"/>
          <p:cNvSpPr/>
          <p:nvPr/>
        </p:nvSpPr>
        <p:spPr>
          <a:xfrm>
            <a:off x="250545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2019</a:t>
            </a:r>
          </a:p>
        </p:txBody>
      </p:sp>
      <p:sp>
        <p:nvSpPr>
          <p:cNvPr id="8" name="Oval 7"/>
          <p:cNvSpPr/>
          <p:nvPr/>
        </p:nvSpPr>
        <p:spPr>
          <a:xfrm>
            <a:off x="351129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2020</a:t>
            </a:r>
          </a:p>
        </p:txBody>
      </p:sp>
      <p:sp>
        <p:nvSpPr>
          <p:cNvPr id="10" name="Oval 9"/>
          <p:cNvSpPr/>
          <p:nvPr/>
        </p:nvSpPr>
        <p:spPr>
          <a:xfrm>
            <a:off x="451713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2021</a:t>
            </a:r>
          </a:p>
        </p:txBody>
      </p:sp>
      <p:sp>
        <p:nvSpPr>
          <p:cNvPr id="12" name="Oval 11"/>
          <p:cNvSpPr/>
          <p:nvPr/>
        </p:nvSpPr>
        <p:spPr>
          <a:xfrm>
            <a:off x="552297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2022</a:t>
            </a:r>
          </a:p>
        </p:txBody>
      </p:sp>
      <p:sp>
        <p:nvSpPr>
          <p:cNvPr id="14" name="Oval 13"/>
          <p:cNvSpPr/>
          <p:nvPr/>
        </p:nvSpPr>
        <p:spPr>
          <a:xfrm>
            <a:off x="652881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2023</a:t>
            </a:r>
          </a:p>
        </p:txBody>
      </p:sp>
      <p:sp>
        <p:nvSpPr>
          <p:cNvPr id="16" name="Oval 15"/>
          <p:cNvSpPr/>
          <p:nvPr/>
        </p:nvSpPr>
        <p:spPr>
          <a:xfrm>
            <a:off x="753465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2024</a:t>
            </a:r>
          </a:p>
        </p:txBody>
      </p:sp>
      <p:sp>
        <p:nvSpPr>
          <p:cNvPr id="18" name="Oval 17"/>
          <p:cNvSpPr/>
          <p:nvPr/>
        </p:nvSpPr>
        <p:spPr>
          <a:xfrm>
            <a:off x="854049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2025</a:t>
            </a:r>
          </a:p>
        </p:txBody>
      </p:sp>
      <p:sp>
        <p:nvSpPr>
          <p:cNvPr id="20" name="Oval 19"/>
          <p:cNvSpPr/>
          <p:nvPr/>
        </p:nvSpPr>
        <p:spPr>
          <a:xfrm>
            <a:off x="9546336" y="3374136"/>
            <a:ext cx="109728" cy="109728"/>
          </a:xfrm>
          <a:prstGeom prst="ellipse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24242"/>
                </a:solidFill>
              </a:rP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13716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</a:rPr>
              <a:t>WADA
Regulatory
Updates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1580" y="1188720"/>
            <a:ext cx="13716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GC intra-articular
prohibited 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1660" y="1691640"/>
            <a:ext cx="0" cy="1664208"/>
          </a:xfrm>
          <a:prstGeom prst="line">
            <a:avLst/>
          </a:prstGeom>
          <a:ln w="9525" prstDash="dash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81800" y="1828800"/>
            <a:ext cx="13716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Diabetes TUE
Guideline v5.1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21880" y="2331720"/>
            <a:ext cx="0" cy="1024128"/>
          </a:xfrm>
          <a:prstGeom prst="line">
            <a:avLst/>
          </a:prstGeom>
          <a:ln w="9525" prstDash="dash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81800" y="2468880"/>
            <a:ext cx="13716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CV TUE
Guideline v4.0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21880" y="2971800"/>
            <a:ext cx="0" cy="384048"/>
          </a:xfrm>
          <a:prstGeom prst="line">
            <a:avLst/>
          </a:prstGeom>
          <a:ln w="9525" prstDash="dash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33260" y="1188720"/>
            <a:ext cx="13716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GLP-1 RA
Monitoring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73340" y="1691640"/>
            <a:ext cx="0" cy="1664208"/>
          </a:xfrm>
          <a:prstGeom prst="line">
            <a:avLst/>
          </a:prstGeom>
          <a:ln w="9525" prstDash="dash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39100" y="1828800"/>
            <a:ext cx="13716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PCOS TUE
Guideline v2.0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79180" y="2331720"/>
            <a:ext cx="0" cy="1024128"/>
          </a:xfrm>
          <a:prstGeom prst="line">
            <a:avLst/>
          </a:prstGeom>
          <a:ln w="9525" prstDash="dash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961120" y="2468880"/>
            <a:ext cx="13716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Hypogonadism
TUE update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01200" y="2971800"/>
            <a:ext cx="0" cy="384048"/>
          </a:xfrm>
          <a:prstGeom prst="line">
            <a:avLst/>
          </a:prstGeom>
          <a:ln w="9525" prstDash="dash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044940" y="1188720"/>
            <a:ext cx="13716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Asthma TUE
v9.3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85020" y="1691640"/>
            <a:ext cx="0" cy="1664208"/>
          </a:xfrm>
          <a:prstGeom prst="line">
            <a:avLst/>
          </a:prstGeom>
          <a:ln w="9525" prstDash="dash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44940" y="1828800"/>
            <a:ext cx="13716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ADHD TUE
v8.0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85020" y="2331720"/>
            <a:ext cx="0" cy="1024128"/>
          </a:xfrm>
          <a:prstGeom prst="line">
            <a:avLst/>
          </a:prstGeom>
          <a:ln w="9525" prstDash="dash">
            <a:solidFill>
              <a:srgbClr val="1565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2880" y="43891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Clinical
Guideline
Updates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17320" y="411480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Endocrine Soc.
Testosterone GL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057400" y="3502152"/>
            <a:ext cx="0" cy="61264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021580" y="475488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Australian
ADHD GL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1660" y="3502152"/>
            <a:ext cx="0" cy="125272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446520" y="539496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PCOS Intl.
GL revised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86600" y="3502152"/>
            <a:ext cx="0" cy="189280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614160" y="411480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TRAVERSE trial
(TRT safety)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54240" y="3502152"/>
            <a:ext cx="0" cy="61264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781800" y="475488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ESC/ESH
Hypertension GL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21880" y="3502152"/>
            <a:ext cx="0" cy="125272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033260" y="539496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EAU Sexual/
Reprod. Health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673340" y="3502152"/>
            <a:ext cx="0" cy="189280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452360" y="411480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NICE ADHD
GL update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092440" y="3502152"/>
            <a:ext cx="0" cy="61264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039100" y="475488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ADA Diabetes
Standards 2025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679180" y="3502152"/>
            <a:ext cx="0" cy="125272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374380" y="539496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GINA 2025
Asthma Strategy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014460" y="3502152"/>
            <a:ext cx="0" cy="189280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458200" y="4114800"/>
            <a:ext cx="137160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50800" rIns="50800"/>
          <a:lstStyle/>
          <a:p>
            <a:pPr algn="ctr"/>
            <a:r>
              <a:rPr sz="700" b="0">
                <a:solidFill>
                  <a:srgbClr val="424242"/>
                </a:solidFill>
              </a:rPr>
              <a:t>ESC Heart
Failure GL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098280" y="3502152"/>
            <a:ext cx="0" cy="612648"/>
          </a:xfrm>
          <a:prstGeom prst="line">
            <a:avLst/>
          </a:prstGeom>
          <a:ln w="952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515600" y="2926080"/>
            <a:ext cx="0" cy="274320"/>
          </a:xfrm>
          <a:prstGeom prst="line">
            <a:avLst/>
          </a:prstGeom>
          <a:ln w="19050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515600" y="3657600"/>
            <a:ext cx="0" cy="274320"/>
          </a:xfrm>
          <a:prstGeom prst="line">
            <a:avLst/>
          </a:prstGeom>
          <a:ln w="19050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24128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GAP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424242"/>
                </a:solidFill>
              </a:rPr>
              <a:t>Figure 4. Timeline of clinical guideline updates versus WADA TUE regulatory changes (2018–2026).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